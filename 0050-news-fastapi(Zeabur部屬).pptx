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497" r:id="rId5"/>
    <p:sldId id="289" r:id="rId6"/>
    <p:sldId id="496" r:id="rId7"/>
    <p:sldId id="498" r:id="rId8"/>
    <p:sldId id="262" r:id="rId9"/>
    <p:sldId id="28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63" r:id="rId19"/>
    <p:sldId id="272" r:id="rId20"/>
    <p:sldId id="273" r:id="rId21"/>
    <p:sldId id="274" r:id="rId22"/>
    <p:sldId id="275" r:id="rId23"/>
    <p:sldId id="276" r:id="rId24"/>
    <p:sldId id="277" r:id="rId25"/>
    <p:sldId id="468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58" r:id="rId37"/>
    <p:sldId id="259" r:id="rId38"/>
    <p:sldId id="257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3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A7AE96-12DE-429C-A194-FB56A3ED3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69B8C2-E146-4716-BE7D-5A4B3B0B7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4FDF11-71EE-45E3-8316-95FC7A860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910B80-5D95-4D66-B2EE-4BB8D87E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AAF025-65BB-488E-A433-0F62C2D2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65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49E493-25C1-45CA-B0B6-8186E4A4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E8E509-F246-46E3-B8D5-A85324F7F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BAC24-75E2-47EC-9385-77B2EE96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D882D6-55E9-4F63-AB4A-D08F731D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1B0FE5-BB0A-462E-9F69-A7A28F09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1379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FC577A-C0CB-4098-8F03-7BA0327D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5E8550B-BCC2-4045-8324-5182ADA4A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964EDD-3830-4705-969D-51AC6823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17EA6F-F370-4F84-B137-821BB07E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F9C0D1-B7E5-48D6-BEEB-BC8B7AB4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27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6CD047-00BE-4F3B-B9F8-CC104FD7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8B9D32-0217-412C-B724-6593861AE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F0B5188-BB37-4111-AD63-2197FF813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C2FF16-038A-43A4-A77B-BD038DAC8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3CCEBA8-1943-4291-90F7-46E7C360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D572DC-1EA6-431C-A601-F34195254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80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209133-86BF-4FA2-9A61-BD4F2F8D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9BD39F-186A-4780-8BB8-EFBCB0912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75F620-F33F-4FB3-89E1-E11CBBE27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809B447-750F-426C-81C7-2C209F1B0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36C47A9-B5CA-48C5-BC4F-3F3EAF3AF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DDBE35-0A9F-4FAB-B9DE-D5E7B8975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3F386F4-95B8-432C-96D3-307A56C85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7E33E3F-DDC6-4FC3-87BA-373BEC624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37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8404D-2ED7-4002-801D-A5087E7F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1BCB37-87E3-4DE2-BD84-DD27AA6B9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421B8BC-9434-4805-A0F9-C128E5BF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F2E2C2-D969-4155-97F6-3AEFFB7C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489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CA95EF6-1200-4DB2-A17B-B825C2072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01F0B77-FFA9-4BA2-A789-3867A754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373E31-915C-42B1-BF46-47F11020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51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02F122-884A-4D3B-AA20-6ADD89D0C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0BC3C6-D94F-4D60-B144-0F88EE3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C256121-7B9D-46AB-9E63-09A72682D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6D8F84-C65D-4E9B-B3FE-D3081B45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8DF65F-C327-4263-A6D8-2C3664487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3E37E6-C10B-42A7-BD30-8D5F45E6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408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708293-CDF3-47D8-8447-F75A486D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7D5B27E-2EBE-40C2-9966-0B3C0E55BB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DC9741-47F9-44CA-BF4A-9D198D48F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D042C4-5649-4529-9F47-892D31998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28E1F1-4ACA-48BE-A777-87915FBF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A147B6-0F60-4420-AFE7-75BD35E9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94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D0D7CC-F0D6-4FD3-B9B1-27C4EF704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82EC59-9637-4CCD-9784-2E3F661DA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87E2CB-3131-425B-B106-82438539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FEBC38-B29E-45CA-BE48-327C70E0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84E85A-4162-4150-9652-043D84D6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614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EA446B4-8F3B-44DC-AFAE-5773B276D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1602CA0-47EF-48D0-B0DD-1A5025300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A18130-8B8F-4FB0-9239-57B809A8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58859E-7AF6-4233-A0E7-4313B7FC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523CEB-EE6A-425D-91E2-9D97AB96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13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08712DD-2918-438B-8B82-0114E69A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A362E9-2F94-4C97-BF0C-98AAD4CD5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EF4F0E-E1C5-468A-948B-62B4F90A5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38240-7716-45DF-AF10-93CF800E7279}" type="datetimeFigureOut">
              <a:rPr lang="zh-TW" altLang="en-US" smtClean="0"/>
              <a:t>2026/7/15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D82647-9440-401B-BD46-2BD321492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976D08-5694-40A7-A9A1-880994368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BFB88-5C52-4EFA-BAA2-73D66D1E81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59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50CACEE-B93D-4663-96C8-94A826034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388" y="853965"/>
            <a:ext cx="6457223" cy="515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76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1EBD898-B494-4C28-B589-1A13D4C7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35" y="326917"/>
            <a:ext cx="10704067" cy="638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2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9971F82-BC8A-44C1-A03A-EA12620D657E}"/>
              </a:ext>
            </a:extLst>
          </p:cNvPr>
          <p:cNvSpPr txBox="1"/>
          <p:nvPr/>
        </p:nvSpPr>
        <p:spPr>
          <a:xfrm>
            <a:off x="385576" y="0"/>
            <a:ext cx="5861605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先將如下程式貼至</a:t>
            </a:r>
            <a:r>
              <a:rPr lang="en-US" altLang="zh-TW" dirty="0">
                <a:solidFill>
                  <a:srgbClr val="FF0000"/>
                </a:solidFill>
              </a:rPr>
              <a:t>main.txt </a:t>
            </a:r>
            <a:r>
              <a:rPr lang="zh-TW" altLang="en-US" dirty="0">
                <a:solidFill>
                  <a:srgbClr val="FF0000"/>
                </a:solidFill>
              </a:rPr>
              <a:t>記事本，並將附檔名改為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建立完</a:t>
            </a:r>
            <a:r>
              <a:rPr lang="en-US" altLang="zh-TW" dirty="0">
                <a:solidFill>
                  <a:srgbClr val="FF0000"/>
                </a:solidFill>
              </a:rPr>
              <a:t>main.py </a:t>
            </a:r>
            <a:r>
              <a:rPr lang="zh-TW" altLang="en-US" dirty="0">
                <a:solidFill>
                  <a:srgbClr val="FF0000"/>
                </a:solidFill>
              </a:rPr>
              <a:t>程式後，用</a:t>
            </a:r>
            <a:r>
              <a:rPr lang="en-US" altLang="zh-TW" dirty="0">
                <a:solidFill>
                  <a:srgbClr val="FF0000"/>
                </a:solidFill>
              </a:rPr>
              <a:t>VS code </a:t>
            </a:r>
            <a:r>
              <a:rPr lang="zh-TW" altLang="en-US" dirty="0">
                <a:solidFill>
                  <a:srgbClr val="FF0000"/>
                </a:solidFill>
              </a:rPr>
              <a:t>開啟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2371B5D-DFC0-4DAC-8712-B95D889ED418}"/>
              </a:ext>
            </a:extLst>
          </p:cNvPr>
          <p:cNvSpPr txBox="1"/>
          <p:nvPr/>
        </p:nvSpPr>
        <p:spPr>
          <a:xfrm>
            <a:off x="3198469" y="923036"/>
            <a:ext cx="6097424" cy="1578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FF0000"/>
                </a:solidFill>
              </a:rPr>
              <a:t>from typing import Optional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import requests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import </a:t>
            </a:r>
            <a:r>
              <a:rPr lang="en-US" altLang="zh-TW" sz="1000" dirty="0" err="1">
                <a:solidFill>
                  <a:srgbClr val="FF0000"/>
                </a:solidFill>
              </a:rPr>
              <a:t>trafilatura</a:t>
            </a:r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from </a:t>
            </a:r>
            <a:r>
              <a:rPr lang="en-US" altLang="zh-TW" sz="1000" dirty="0" err="1">
                <a:solidFill>
                  <a:srgbClr val="FF0000"/>
                </a:solidFill>
              </a:rPr>
              <a:t>fastapi</a:t>
            </a:r>
            <a:r>
              <a:rPr lang="en-US" altLang="zh-TW" sz="1000" dirty="0">
                <a:solidFill>
                  <a:srgbClr val="FF0000"/>
                </a:solidFill>
              </a:rPr>
              <a:t> import </a:t>
            </a:r>
            <a:r>
              <a:rPr lang="en-US" altLang="zh-TW" sz="1000" dirty="0" err="1">
                <a:solidFill>
                  <a:srgbClr val="FF0000"/>
                </a:solidFill>
              </a:rPr>
              <a:t>FastAPI</a:t>
            </a:r>
            <a:r>
              <a:rPr lang="en-US" altLang="zh-TW" sz="1000" dirty="0">
                <a:solidFill>
                  <a:srgbClr val="FF0000"/>
                </a:solidFill>
              </a:rPr>
              <a:t>, </a:t>
            </a:r>
            <a:r>
              <a:rPr lang="en-US" altLang="zh-TW" sz="1000" dirty="0" err="1">
                <a:solidFill>
                  <a:srgbClr val="FF0000"/>
                </a:solidFill>
              </a:rPr>
              <a:t>HTTPException</a:t>
            </a:r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from </a:t>
            </a:r>
            <a:r>
              <a:rPr lang="en-US" altLang="zh-TW" sz="1000" dirty="0" err="1">
                <a:solidFill>
                  <a:srgbClr val="FF0000"/>
                </a:solidFill>
              </a:rPr>
              <a:t>pydantic</a:t>
            </a:r>
            <a:r>
              <a:rPr lang="en-US" altLang="zh-TW" sz="1000" dirty="0">
                <a:solidFill>
                  <a:srgbClr val="FF0000"/>
                </a:solidFill>
              </a:rPr>
              <a:t> import </a:t>
            </a:r>
            <a:r>
              <a:rPr lang="en-US" altLang="zh-TW" sz="1000" dirty="0" err="1">
                <a:solidFill>
                  <a:srgbClr val="FF0000"/>
                </a:solidFill>
              </a:rPr>
              <a:t>BaseModel</a:t>
            </a:r>
            <a:r>
              <a:rPr lang="en-US" altLang="zh-TW" sz="1000" dirty="0">
                <a:solidFill>
                  <a:srgbClr val="FF0000"/>
                </a:solidFill>
              </a:rPr>
              <a:t>, </a:t>
            </a:r>
            <a:r>
              <a:rPr lang="en-US" altLang="zh-TW" sz="1000" dirty="0" err="1">
                <a:solidFill>
                  <a:srgbClr val="FF0000"/>
                </a:solidFill>
              </a:rPr>
              <a:t>HttpUrl</a:t>
            </a:r>
            <a:endParaRPr lang="en-US" altLang="zh-TW" sz="1000" dirty="0">
              <a:solidFill>
                <a:srgbClr val="FF0000"/>
              </a:solidFill>
            </a:endParaRP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app = </a:t>
            </a:r>
            <a:r>
              <a:rPr lang="en-US" altLang="zh-TW" sz="1000" dirty="0" err="1">
                <a:solidFill>
                  <a:srgbClr val="FF0000"/>
                </a:solidFill>
              </a:rPr>
              <a:t>FastAPI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title="0050 News Extraction API",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description="</a:t>
            </a:r>
            <a:r>
              <a:rPr lang="zh-TW" altLang="en-US" sz="1000" dirty="0">
                <a:solidFill>
                  <a:srgbClr val="FF0000"/>
                </a:solidFill>
              </a:rPr>
              <a:t>使用 </a:t>
            </a:r>
            <a:r>
              <a:rPr lang="en-US" altLang="zh-TW" sz="1000" dirty="0" err="1">
                <a:solidFill>
                  <a:srgbClr val="FF0000"/>
                </a:solidFill>
              </a:rPr>
              <a:t>Trafilatura</a:t>
            </a:r>
            <a:r>
              <a:rPr lang="en-US" altLang="zh-TW" sz="1000" dirty="0">
                <a:solidFill>
                  <a:srgbClr val="FF0000"/>
                </a:solidFill>
              </a:rPr>
              <a:t> </a:t>
            </a:r>
            <a:r>
              <a:rPr lang="zh-TW" altLang="en-US" sz="1000" dirty="0">
                <a:solidFill>
                  <a:srgbClr val="FF0000"/>
                </a:solidFill>
              </a:rPr>
              <a:t>擷取 </a:t>
            </a:r>
            <a:r>
              <a:rPr lang="en-US" altLang="zh-TW" sz="1000" dirty="0">
                <a:solidFill>
                  <a:srgbClr val="FF0000"/>
                </a:solidFill>
              </a:rPr>
              <a:t>0050 </a:t>
            </a:r>
            <a:r>
              <a:rPr lang="zh-TW" altLang="en-US" sz="1000" dirty="0">
                <a:solidFill>
                  <a:srgbClr val="FF0000"/>
                </a:solidFill>
              </a:rPr>
              <a:t>相關新聞正文</a:t>
            </a:r>
            <a:r>
              <a:rPr lang="en-US" altLang="zh-TW" sz="1000" dirty="0">
                <a:solidFill>
                  <a:srgbClr val="FF0000"/>
                </a:solidFill>
              </a:rPr>
              <a:t>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version="1.0.0",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)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class </a:t>
            </a:r>
            <a:r>
              <a:rPr lang="en-US" altLang="zh-TW" sz="1000" dirty="0" err="1">
                <a:solidFill>
                  <a:srgbClr val="FF0000"/>
                </a:solidFill>
              </a:rPr>
              <a:t>ExtractRequest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  <a:r>
              <a:rPr lang="en-US" altLang="zh-TW" sz="1000" dirty="0" err="1">
                <a:solidFill>
                  <a:srgbClr val="FF0000"/>
                </a:solidFill>
              </a:rPr>
              <a:t>BaseModel</a:t>
            </a:r>
            <a:r>
              <a:rPr lang="en-US" altLang="zh-TW" sz="1000" dirty="0">
                <a:solidFill>
                  <a:srgbClr val="FF0000"/>
                </a:solidFill>
              </a:rPr>
              <a:t>):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url: </a:t>
            </a:r>
            <a:r>
              <a:rPr lang="en-US" altLang="zh-TW" sz="1000" dirty="0" err="1">
                <a:solidFill>
                  <a:srgbClr val="FF0000"/>
                </a:solidFill>
              </a:rPr>
              <a:t>HttpUrl</a:t>
            </a:r>
            <a:endParaRPr lang="en-US" altLang="zh-TW" sz="1000" dirty="0">
              <a:solidFill>
                <a:srgbClr val="FF0000"/>
              </a:solidFill>
            </a:endParaRP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class </a:t>
            </a:r>
            <a:r>
              <a:rPr lang="en-US" altLang="zh-TW" sz="1000" dirty="0" err="1">
                <a:solidFill>
                  <a:srgbClr val="FF0000"/>
                </a:solidFill>
              </a:rPr>
              <a:t>ExtractResponse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  <a:r>
              <a:rPr lang="en-US" altLang="zh-TW" sz="1000" dirty="0" err="1">
                <a:solidFill>
                  <a:srgbClr val="FF0000"/>
                </a:solidFill>
              </a:rPr>
              <a:t>BaseModel</a:t>
            </a:r>
            <a:r>
              <a:rPr lang="en-US" altLang="zh-TW" sz="1000" dirty="0">
                <a:solidFill>
                  <a:srgbClr val="FF0000"/>
                </a:solidFill>
              </a:rPr>
              <a:t>):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success: bool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url: str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title: Optional[str] = None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author: Optional[str] = None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</a:t>
            </a:r>
            <a:r>
              <a:rPr lang="en-US" altLang="zh-TW" sz="1000" dirty="0" err="1">
                <a:solidFill>
                  <a:srgbClr val="FF0000"/>
                </a:solidFill>
              </a:rPr>
              <a:t>publish_date</a:t>
            </a:r>
            <a:r>
              <a:rPr lang="en-US" altLang="zh-TW" sz="1000" dirty="0">
                <a:solidFill>
                  <a:srgbClr val="FF0000"/>
                </a:solidFill>
              </a:rPr>
              <a:t>: Optional[str] = None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content: str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</a:t>
            </a:r>
            <a:r>
              <a:rPr lang="en-US" altLang="zh-TW" sz="1000" dirty="0" err="1">
                <a:solidFill>
                  <a:srgbClr val="FF0000"/>
                </a:solidFill>
              </a:rPr>
              <a:t>content_length</a:t>
            </a:r>
            <a:r>
              <a:rPr lang="en-US" altLang="zh-TW" sz="1000" dirty="0">
                <a:solidFill>
                  <a:srgbClr val="FF0000"/>
                </a:solidFill>
              </a:rPr>
              <a:t>: int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@app.get("/")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def </a:t>
            </a:r>
            <a:r>
              <a:rPr lang="en-US" altLang="zh-TW" sz="1000" dirty="0" err="1">
                <a:solidFill>
                  <a:srgbClr val="FF0000"/>
                </a:solidFill>
              </a:rPr>
              <a:t>health_check</a:t>
            </a:r>
            <a:r>
              <a:rPr lang="en-US" altLang="zh-TW" sz="1000" dirty="0">
                <a:solidFill>
                  <a:srgbClr val="FF0000"/>
                </a:solidFill>
              </a:rPr>
              <a:t>():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return {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"status": "ok",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"service": "0050 News Extraction API",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"message": "</a:t>
            </a:r>
            <a:r>
              <a:rPr lang="en-US" altLang="zh-TW" sz="1000" dirty="0" err="1">
                <a:solidFill>
                  <a:srgbClr val="FF0000"/>
                </a:solidFill>
              </a:rPr>
              <a:t>FastAPI</a:t>
            </a:r>
            <a:r>
              <a:rPr lang="en-US" altLang="zh-TW" sz="1000" dirty="0">
                <a:solidFill>
                  <a:srgbClr val="FF0000"/>
                </a:solidFill>
              </a:rPr>
              <a:t> is running",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}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@app.post("/extract", </a:t>
            </a:r>
            <a:r>
              <a:rPr lang="en-US" altLang="zh-TW" sz="1000" dirty="0" err="1">
                <a:solidFill>
                  <a:srgbClr val="FF0000"/>
                </a:solidFill>
              </a:rPr>
              <a:t>response_model</a:t>
            </a:r>
            <a:r>
              <a:rPr lang="en-US" altLang="zh-TW" sz="1000" dirty="0">
                <a:solidFill>
                  <a:srgbClr val="FF0000"/>
                </a:solidFill>
              </a:rPr>
              <a:t>=</a:t>
            </a:r>
            <a:r>
              <a:rPr lang="en-US" altLang="zh-TW" sz="1000" dirty="0" err="1">
                <a:solidFill>
                  <a:srgbClr val="FF0000"/>
                </a:solidFill>
              </a:rPr>
              <a:t>ExtractResponse</a:t>
            </a:r>
            <a:r>
              <a:rPr lang="en-US" altLang="zh-TW" sz="10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def </a:t>
            </a:r>
            <a:r>
              <a:rPr lang="en-US" altLang="zh-TW" sz="1000" dirty="0" err="1">
                <a:solidFill>
                  <a:srgbClr val="FF0000"/>
                </a:solidFill>
              </a:rPr>
              <a:t>extract_article</a:t>
            </a:r>
            <a:r>
              <a:rPr lang="en-US" altLang="zh-TW" sz="1000" dirty="0">
                <a:solidFill>
                  <a:srgbClr val="FF0000"/>
                </a:solidFill>
              </a:rPr>
              <a:t>(request: </a:t>
            </a:r>
            <a:r>
              <a:rPr lang="en-US" altLang="zh-TW" sz="1000" dirty="0" err="1">
                <a:solidFill>
                  <a:srgbClr val="FF0000"/>
                </a:solidFill>
              </a:rPr>
              <a:t>ExtractRequest</a:t>
            </a:r>
            <a:r>
              <a:rPr lang="en-US" altLang="zh-TW" sz="1000" dirty="0">
                <a:solidFill>
                  <a:srgbClr val="FF0000"/>
                </a:solidFill>
              </a:rPr>
              <a:t>):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</a:t>
            </a:r>
            <a:r>
              <a:rPr lang="en-US" altLang="zh-TW" sz="1000" dirty="0" err="1">
                <a:solidFill>
                  <a:srgbClr val="FF0000"/>
                </a:solidFill>
              </a:rPr>
              <a:t>url</a:t>
            </a:r>
            <a:r>
              <a:rPr lang="en-US" altLang="zh-TW" sz="1000" dirty="0">
                <a:solidFill>
                  <a:srgbClr val="FF0000"/>
                </a:solidFill>
              </a:rPr>
              <a:t> = str(request.url)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headers = {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"User-Agent": (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"Mozilla/5.0 (Windows NT 10.0; Win64; x64) "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"</a:t>
            </a:r>
            <a:r>
              <a:rPr lang="en-US" altLang="zh-TW" sz="1000" dirty="0" err="1">
                <a:solidFill>
                  <a:srgbClr val="FF0000"/>
                </a:solidFill>
              </a:rPr>
              <a:t>AppleWebKit</a:t>
            </a:r>
            <a:r>
              <a:rPr lang="en-US" altLang="zh-TW" sz="1000" dirty="0">
                <a:solidFill>
                  <a:srgbClr val="FF0000"/>
                </a:solidFill>
              </a:rPr>
              <a:t>/537.36 (KHTML, like Gecko) "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"Chrome/138.0.0.0 Safari/537.36"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),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"Accept-Language": "</a:t>
            </a:r>
            <a:r>
              <a:rPr lang="en-US" altLang="zh-TW" sz="1000" dirty="0" err="1">
                <a:solidFill>
                  <a:srgbClr val="FF0000"/>
                </a:solidFill>
              </a:rPr>
              <a:t>zh-TW,zh;q</a:t>
            </a:r>
            <a:r>
              <a:rPr lang="en-US" altLang="zh-TW" sz="1000" dirty="0">
                <a:solidFill>
                  <a:srgbClr val="FF0000"/>
                </a:solidFill>
              </a:rPr>
              <a:t>=0.9,en;q=0.8",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}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try: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response = </a:t>
            </a:r>
            <a:r>
              <a:rPr lang="en-US" altLang="zh-TW" sz="1000" dirty="0" err="1">
                <a:solidFill>
                  <a:srgbClr val="FF0000"/>
                </a:solidFill>
              </a:rPr>
              <a:t>requests.get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</a:t>
            </a:r>
            <a:r>
              <a:rPr lang="en-US" altLang="zh-TW" sz="1000" dirty="0" err="1">
                <a:solidFill>
                  <a:srgbClr val="FF0000"/>
                </a:solidFill>
              </a:rPr>
              <a:t>url</a:t>
            </a:r>
            <a:r>
              <a:rPr lang="en-US" altLang="zh-TW" sz="1000" dirty="0">
                <a:solidFill>
                  <a:srgbClr val="FF0000"/>
                </a:solidFill>
              </a:rPr>
              <a:t>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headers=headers,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timeout=20,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)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response.raise_for_status</a:t>
            </a:r>
            <a:r>
              <a:rPr lang="en-US" altLang="zh-TW" sz="1000" dirty="0">
                <a:solidFill>
                  <a:srgbClr val="FF0000"/>
                </a:solidFill>
              </a:rPr>
              <a:t>()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except </a:t>
            </a:r>
            <a:r>
              <a:rPr lang="en-US" altLang="zh-TW" sz="1000" dirty="0" err="1">
                <a:solidFill>
                  <a:srgbClr val="FF0000"/>
                </a:solidFill>
              </a:rPr>
              <a:t>requests.RequestException</a:t>
            </a:r>
            <a:r>
              <a:rPr lang="en-US" altLang="zh-TW" sz="1000" dirty="0">
                <a:solidFill>
                  <a:srgbClr val="FF0000"/>
                </a:solidFill>
              </a:rPr>
              <a:t> as </a:t>
            </a:r>
            <a:r>
              <a:rPr lang="en-US" altLang="zh-TW" sz="1000" dirty="0" err="1">
                <a:solidFill>
                  <a:srgbClr val="FF0000"/>
                </a:solidFill>
              </a:rPr>
              <a:t>exc</a:t>
            </a:r>
            <a:r>
              <a:rPr lang="en-US" altLang="zh-TW" sz="1000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raise </a:t>
            </a:r>
            <a:r>
              <a:rPr lang="en-US" altLang="zh-TW" sz="1000" dirty="0" err="1">
                <a:solidFill>
                  <a:srgbClr val="FF0000"/>
                </a:solidFill>
              </a:rPr>
              <a:t>HTTPException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</a:t>
            </a:r>
            <a:r>
              <a:rPr lang="en-US" altLang="zh-TW" sz="1000" dirty="0" err="1">
                <a:solidFill>
                  <a:srgbClr val="FF0000"/>
                </a:solidFill>
              </a:rPr>
              <a:t>status_code</a:t>
            </a:r>
            <a:r>
              <a:rPr lang="en-US" altLang="zh-TW" sz="1000" dirty="0">
                <a:solidFill>
                  <a:srgbClr val="FF0000"/>
                </a:solidFill>
              </a:rPr>
              <a:t>=400,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detail=f"</a:t>
            </a:r>
            <a:r>
              <a:rPr lang="zh-TW" altLang="en-US" sz="1000" dirty="0">
                <a:solidFill>
                  <a:srgbClr val="FF0000"/>
                </a:solidFill>
              </a:rPr>
              <a:t>網頁下載失敗：</a:t>
            </a:r>
            <a:r>
              <a:rPr lang="en-US" altLang="zh-TW" sz="1000" dirty="0">
                <a:solidFill>
                  <a:srgbClr val="FF0000"/>
                </a:solidFill>
              </a:rPr>
              <a:t>{</a:t>
            </a:r>
            <a:r>
              <a:rPr lang="en-US" altLang="zh-TW" sz="1000" dirty="0" err="1">
                <a:solidFill>
                  <a:srgbClr val="FF0000"/>
                </a:solidFill>
              </a:rPr>
              <a:t>exc</a:t>
            </a:r>
            <a:r>
              <a:rPr lang="en-US" altLang="zh-TW" sz="1000" dirty="0">
                <a:solidFill>
                  <a:srgbClr val="FF0000"/>
                </a:solidFill>
              </a:rPr>
              <a:t>}",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)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html = </a:t>
            </a:r>
            <a:r>
              <a:rPr lang="en-US" altLang="zh-TW" sz="1000" dirty="0" err="1">
                <a:solidFill>
                  <a:srgbClr val="FF0000"/>
                </a:solidFill>
              </a:rPr>
              <a:t>response.text</a:t>
            </a:r>
            <a:endParaRPr lang="en-US" altLang="zh-TW" sz="1000" dirty="0">
              <a:solidFill>
                <a:srgbClr val="FF0000"/>
              </a:solidFill>
            </a:endParaRP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content = </a:t>
            </a:r>
            <a:r>
              <a:rPr lang="en-US" altLang="zh-TW" sz="1000" dirty="0" err="1">
                <a:solidFill>
                  <a:srgbClr val="FF0000"/>
                </a:solidFill>
              </a:rPr>
              <a:t>trafilatura.extract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html,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url</a:t>
            </a:r>
            <a:r>
              <a:rPr lang="en-US" altLang="zh-TW" sz="1000" dirty="0">
                <a:solidFill>
                  <a:srgbClr val="FF0000"/>
                </a:solidFill>
              </a:rPr>
              <a:t>=</a:t>
            </a:r>
            <a:r>
              <a:rPr lang="en-US" altLang="zh-TW" sz="1000" dirty="0" err="1">
                <a:solidFill>
                  <a:srgbClr val="FF0000"/>
                </a:solidFill>
              </a:rPr>
              <a:t>url</a:t>
            </a:r>
            <a:r>
              <a:rPr lang="en-US" altLang="zh-TW" sz="1000" dirty="0">
                <a:solidFill>
                  <a:srgbClr val="FF0000"/>
                </a:solidFill>
              </a:rPr>
              <a:t>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output_format</a:t>
            </a:r>
            <a:r>
              <a:rPr lang="en-US" altLang="zh-TW" sz="1000" dirty="0">
                <a:solidFill>
                  <a:srgbClr val="FF0000"/>
                </a:solidFill>
              </a:rPr>
              <a:t>="markdown",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include_comments</a:t>
            </a:r>
            <a:r>
              <a:rPr lang="en-US" altLang="zh-TW" sz="1000" dirty="0">
                <a:solidFill>
                  <a:srgbClr val="FF0000"/>
                </a:solidFill>
              </a:rPr>
              <a:t>=False,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include_links</a:t>
            </a:r>
            <a:r>
              <a:rPr lang="en-US" altLang="zh-TW" sz="1000" dirty="0">
                <a:solidFill>
                  <a:srgbClr val="FF0000"/>
                </a:solidFill>
              </a:rPr>
              <a:t>=False,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include_images</a:t>
            </a:r>
            <a:r>
              <a:rPr lang="en-US" altLang="zh-TW" sz="1000" dirty="0">
                <a:solidFill>
                  <a:srgbClr val="FF0000"/>
                </a:solidFill>
              </a:rPr>
              <a:t>=False,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include_tables</a:t>
            </a:r>
            <a:r>
              <a:rPr lang="en-US" altLang="zh-TW" sz="1000" dirty="0">
                <a:solidFill>
                  <a:srgbClr val="FF0000"/>
                </a:solidFill>
              </a:rPr>
              <a:t>=True,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favor_precision</a:t>
            </a:r>
            <a:r>
              <a:rPr lang="en-US" altLang="zh-TW" sz="1000" dirty="0">
                <a:solidFill>
                  <a:srgbClr val="FF0000"/>
                </a:solidFill>
              </a:rPr>
              <a:t>=True,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)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if not content: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raise </a:t>
            </a:r>
            <a:r>
              <a:rPr lang="en-US" altLang="zh-TW" sz="1000" dirty="0" err="1">
                <a:solidFill>
                  <a:srgbClr val="FF0000"/>
                </a:solidFill>
              </a:rPr>
              <a:t>HTTPException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</a:t>
            </a:r>
            <a:r>
              <a:rPr lang="en-US" altLang="zh-TW" sz="1000" dirty="0" err="1">
                <a:solidFill>
                  <a:srgbClr val="FF0000"/>
                </a:solidFill>
              </a:rPr>
              <a:t>status_code</a:t>
            </a:r>
            <a:r>
              <a:rPr lang="en-US" altLang="zh-TW" sz="1000" dirty="0">
                <a:solidFill>
                  <a:srgbClr val="FF0000"/>
                </a:solidFill>
              </a:rPr>
              <a:t>=422,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    detail="</a:t>
            </a:r>
            <a:r>
              <a:rPr lang="zh-TW" altLang="en-US" sz="1000" dirty="0">
                <a:solidFill>
                  <a:srgbClr val="FF0000"/>
                </a:solidFill>
              </a:rPr>
              <a:t>網頁下載成功，但無法擷取文章正文。</a:t>
            </a:r>
            <a:r>
              <a:rPr lang="en-US" altLang="zh-TW" sz="1000" dirty="0">
                <a:solidFill>
                  <a:srgbClr val="FF0000"/>
                </a:solidFill>
              </a:rPr>
              <a:t>",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)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metadata = </a:t>
            </a:r>
            <a:r>
              <a:rPr lang="en-US" altLang="zh-TW" sz="1000" dirty="0" err="1">
                <a:solidFill>
                  <a:srgbClr val="FF0000"/>
                </a:solidFill>
              </a:rPr>
              <a:t>trafilatura.extract_metadata</a:t>
            </a:r>
            <a:r>
              <a:rPr lang="en-US" altLang="zh-TW" sz="1000" dirty="0">
                <a:solidFill>
                  <a:srgbClr val="FF0000"/>
                </a:solidFill>
              </a:rPr>
              <a:t>(html)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</a:t>
            </a:r>
            <a:r>
              <a:rPr lang="en-US" altLang="zh-TW" sz="1000" dirty="0" err="1">
                <a:solidFill>
                  <a:srgbClr val="FF0000"/>
                </a:solidFill>
              </a:rPr>
              <a:t>cleaned_content</a:t>
            </a:r>
            <a:r>
              <a:rPr lang="en-US" altLang="zh-TW" sz="1000" dirty="0">
                <a:solidFill>
                  <a:srgbClr val="FF0000"/>
                </a:solidFill>
              </a:rPr>
              <a:t> = "\</a:t>
            </a:r>
            <a:r>
              <a:rPr lang="en-US" altLang="zh-TW" sz="1000" dirty="0" err="1">
                <a:solidFill>
                  <a:srgbClr val="FF0000"/>
                </a:solidFill>
              </a:rPr>
              <a:t>n".join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line.strip</a:t>
            </a:r>
            <a:r>
              <a:rPr lang="en-US" altLang="zh-TW" sz="1000" dirty="0">
                <a:solidFill>
                  <a:srgbClr val="FF0000"/>
                </a:solidFill>
              </a:rPr>
              <a:t>()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for line in </a:t>
            </a:r>
            <a:r>
              <a:rPr lang="en-US" altLang="zh-TW" sz="1000" dirty="0" err="1">
                <a:solidFill>
                  <a:srgbClr val="FF0000"/>
                </a:solidFill>
              </a:rPr>
              <a:t>content.splitlines</a:t>
            </a:r>
            <a:r>
              <a:rPr lang="en-US" altLang="zh-TW" sz="1000" dirty="0">
                <a:solidFill>
                  <a:srgbClr val="FF0000"/>
                </a:solidFill>
              </a:rPr>
              <a:t>()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if </a:t>
            </a:r>
            <a:r>
              <a:rPr lang="en-US" altLang="zh-TW" sz="1000" dirty="0" err="1">
                <a:solidFill>
                  <a:srgbClr val="FF0000"/>
                </a:solidFill>
              </a:rPr>
              <a:t>line.strip</a:t>
            </a:r>
            <a:r>
              <a:rPr lang="en-US" altLang="zh-TW" sz="1000" dirty="0">
                <a:solidFill>
                  <a:srgbClr val="FF0000"/>
                </a:solidFill>
              </a:rPr>
              <a:t>()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)</a:t>
            </a:r>
          </a:p>
          <a:p>
            <a:endParaRPr lang="en-US" altLang="zh-TW" sz="1000" dirty="0">
              <a:solidFill>
                <a:srgbClr val="FF0000"/>
              </a:solidFill>
            </a:endParaRPr>
          </a:p>
          <a:p>
            <a:r>
              <a:rPr lang="en-US" altLang="zh-TW" sz="1000" dirty="0">
                <a:solidFill>
                  <a:srgbClr val="FF0000"/>
                </a:solidFill>
              </a:rPr>
              <a:t>    return </a:t>
            </a:r>
            <a:r>
              <a:rPr lang="en-US" altLang="zh-TW" sz="1000" dirty="0" err="1">
                <a:solidFill>
                  <a:srgbClr val="FF0000"/>
                </a:solidFill>
              </a:rPr>
              <a:t>ExtractResponse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success=True,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url</a:t>
            </a:r>
            <a:r>
              <a:rPr lang="en-US" altLang="zh-TW" sz="1000" dirty="0">
                <a:solidFill>
                  <a:srgbClr val="FF0000"/>
                </a:solidFill>
              </a:rPr>
              <a:t>=</a:t>
            </a:r>
            <a:r>
              <a:rPr lang="en-US" altLang="zh-TW" sz="1000" dirty="0" err="1">
                <a:solidFill>
                  <a:srgbClr val="FF0000"/>
                </a:solidFill>
              </a:rPr>
              <a:t>url</a:t>
            </a:r>
            <a:r>
              <a:rPr lang="en-US" altLang="zh-TW" sz="1000" dirty="0">
                <a:solidFill>
                  <a:srgbClr val="FF0000"/>
                </a:solidFill>
              </a:rPr>
              <a:t>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title=</a:t>
            </a:r>
            <a:r>
              <a:rPr lang="en-US" altLang="zh-TW" sz="1000" dirty="0" err="1">
                <a:solidFill>
                  <a:srgbClr val="FF0000"/>
                </a:solidFill>
              </a:rPr>
              <a:t>metadata.title</a:t>
            </a:r>
            <a:r>
              <a:rPr lang="en-US" altLang="zh-TW" sz="1000" dirty="0">
                <a:solidFill>
                  <a:srgbClr val="FF0000"/>
                </a:solidFill>
              </a:rPr>
              <a:t> if metadata else None,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author=</a:t>
            </a:r>
            <a:r>
              <a:rPr lang="en-US" altLang="zh-TW" sz="1000" dirty="0" err="1">
                <a:solidFill>
                  <a:srgbClr val="FF0000"/>
                </a:solidFill>
              </a:rPr>
              <a:t>metadata.author</a:t>
            </a:r>
            <a:r>
              <a:rPr lang="en-US" altLang="zh-TW" sz="1000" dirty="0">
                <a:solidFill>
                  <a:srgbClr val="FF0000"/>
                </a:solidFill>
              </a:rPr>
              <a:t> if metadata else None,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publish_date</a:t>
            </a:r>
            <a:r>
              <a:rPr lang="en-US" altLang="zh-TW" sz="1000" dirty="0">
                <a:solidFill>
                  <a:srgbClr val="FF0000"/>
                </a:solidFill>
              </a:rPr>
              <a:t>=</a:t>
            </a:r>
            <a:r>
              <a:rPr lang="en-US" altLang="zh-TW" sz="1000" dirty="0" err="1">
                <a:solidFill>
                  <a:srgbClr val="FF0000"/>
                </a:solidFill>
              </a:rPr>
              <a:t>metadata.date</a:t>
            </a:r>
            <a:r>
              <a:rPr lang="en-US" altLang="zh-TW" sz="1000" dirty="0">
                <a:solidFill>
                  <a:srgbClr val="FF0000"/>
                </a:solidFill>
              </a:rPr>
              <a:t> if metadata else None,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content=</a:t>
            </a:r>
            <a:r>
              <a:rPr lang="en-US" altLang="zh-TW" sz="1000" dirty="0" err="1">
                <a:solidFill>
                  <a:srgbClr val="FF0000"/>
                </a:solidFill>
              </a:rPr>
              <a:t>cleaned_content</a:t>
            </a:r>
            <a:r>
              <a:rPr lang="en-US" altLang="zh-TW" sz="1000" dirty="0">
                <a:solidFill>
                  <a:srgbClr val="FF0000"/>
                </a:solidFill>
              </a:rPr>
              <a:t>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    </a:t>
            </a:r>
            <a:r>
              <a:rPr lang="en-US" altLang="zh-TW" sz="1000" dirty="0" err="1">
                <a:solidFill>
                  <a:srgbClr val="FF0000"/>
                </a:solidFill>
              </a:rPr>
              <a:t>content_length</a:t>
            </a:r>
            <a:r>
              <a:rPr lang="en-US" altLang="zh-TW" sz="1000" dirty="0">
                <a:solidFill>
                  <a:srgbClr val="FF0000"/>
                </a:solidFill>
              </a:rPr>
              <a:t>=</a:t>
            </a:r>
            <a:r>
              <a:rPr lang="en-US" altLang="zh-TW" sz="1000" dirty="0" err="1">
                <a:solidFill>
                  <a:srgbClr val="FF0000"/>
                </a:solidFill>
              </a:rPr>
              <a:t>len</a:t>
            </a:r>
            <a:r>
              <a:rPr lang="en-US" altLang="zh-TW" sz="1000" dirty="0">
                <a:solidFill>
                  <a:srgbClr val="FF0000"/>
                </a:solidFill>
              </a:rPr>
              <a:t>(</a:t>
            </a:r>
            <a:r>
              <a:rPr lang="en-US" altLang="zh-TW" sz="1000" dirty="0" err="1">
                <a:solidFill>
                  <a:srgbClr val="FF0000"/>
                </a:solidFill>
              </a:rPr>
              <a:t>cleaned_content</a:t>
            </a:r>
            <a:r>
              <a:rPr lang="en-US" altLang="zh-TW" sz="1000" dirty="0">
                <a:solidFill>
                  <a:srgbClr val="FF0000"/>
                </a:solidFill>
              </a:rPr>
              <a:t>),</a:t>
            </a:r>
          </a:p>
          <a:p>
            <a:r>
              <a:rPr lang="en-US" altLang="zh-TW" sz="1000" dirty="0">
                <a:solidFill>
                  <a:srgbClr val="FF0000"/>
                </a:solidFill>
              </a:rPr>
              <a:t>    )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63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>
            <a:extLst>
              <a:ext uri="{FF2B5EF4-FFF2-40B4-BE49-F238E27FC236}">
                <a16:creationId xmlns:a16="http://schemas.microsoft.com/office/drawing/2014/main" id="{9637EEF6-4B51-461B-91A2-7273B06766AC}"/>
              </a:ext>
            </a:extLst>
          </p:cNvPr>
          <p:cNvGrpSpPr/>
          <p:nvPr/>
        </p:nvGrpSpPr>
        <p:grpSpPr>
          <a:xfrm>
            <a:off x="10311708" y="1475700"/>
            <a:ext cx="6119679" cy="2511393"/>
            <a:chOff x="10311708" y="1475700"/>
            <a:chExt cx="6119679" cy="2511393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701D2CBD-7CD2-458D-84F2-D070857C6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11708" y="1475700"/>
              <a:ext cx="6119679" cy="2511393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82BEDDF-ADCA-4914-9E0E-7C86E337C3FE}"/>
                </a:ext>
              </a:extLst>
            </p:cNvPr>
            <p:cNvSpPr/>
            <p:nvPr/>
          </p:nvSpPr>
          <p:spPr>
            <a:xfrm>
              <a:off x="10615480" y="2081242"/>
              <a:ext cx="774512" cy="2522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CFE75479-AD35-4F27-B36D-3912BE40D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32" y="382356"/>
            <a:ext cx="8632836" cy="450810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9CA5F57-AA97-4699-95B0-9D43B8812747}"/>
              </a:ext>
            </a:extLst>
          </p:cNvPr>
          <p:cNvSpPr/>
          <p:nvPr/>
        </p:nvSpPr>
        <p:spPr>
          <a:xfrm>
            <a:off x="869521" y="1778312"/>
            <a:ext cx="1744653" cy="302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73A13B-6476-4151-873F-20114BB826B2}"/>
              </a:ext>
            </a:extLst>
          </p:cNvPr>
          <p:cNvSpPr/>
          <p:nvPr/>
        </p:nvSpPr>
        <p:spPr>
          <a:xfrm>
            <a:off x="4118638" y="2333479"/>
            <a:ext cx="1744653" cy="302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872877-65F8-4162-ABBC-64BB983E1BA2}"/>
              </a:ext>
            </a:extLst>
          </p:cNvPr>
          <p:cNvSpPr/>
          <p:nvPr/>
        </p:nvSpPr>
        <p:spPr>
          <a:xfrm>
            <a:off x="5863291" y="1974451"/>
            <a:ext cx="1744653" cy="302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A181A6FE-919B-45F2-902D-9ECB0C00AC32}"/>
              </a:ext>
            </a:extLst>
          </p:cNvPr>
          <p:cNvSpPr/>
          <p:nvPr/>
        </p:nvSpPr>
        <p:spPr>
          <a:xfrm>
            <a:off x="9536687" y="2530027"/>
            <a:ext cx="673178" cy="5890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39EDE5-018C-4A36-AFAC-4284D41D2B50}"/>
              </a:ext>
            </a:extLst>
          </p:cNvPr>
          <p:cNvSpPr/>
          <p:nvPr/>
        </p:nvSpPr>
        <p:spPr>
          <a:xfrm>
            <a:off x="10615480" y="2356552"/>
            <a:ext cx="949851" cy="664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B6C1332-F4CB-4679-9A02-B8D66AC71D55}"/>
              </a:ext>
            </a:extLst>
          </p:cNvPr>
          <p:cNvSpPr txBox="1"/>
          <p:nvPr/>
        </p:nvSpPr>
        <p:spPr>
          <a:xfrm>
            <a:off x="10311708" y="391219"/>
            <a:ext cx="387978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待會在</a:t>
            </a:r>
            <a:r>
              <a:rPr lang="en-US" altLang="zh-TW" sz="1200" dirty="0" err="1">
                <a:solidFill>
                  <a:srgbClr val="FF0000"/>
                </a:solidFill>
              </a:rPr>
              <a:t>fastapi_yield</a:t>
            </a:r>
            <a:r>
              <a:rPr lang="en-US" altLang="zh-TW" sz="1200" dirty="0">
                <a:solidFill>
                  <a:srgbClr val="FF0000"/>
                </a:solidFill>
              </a:rPr>
              <a:t> </a:t>
            </a:r>
            <a:r>
              <a:rPr lang="zh-TW" altLang="en-US" sz="1200" dirty="0">
                <a:solidFill>
                  <a:srgbClr val="FF0000"/>
                </a:solidFill>
              </a:rPr>
              <a:t>資料夾要建立的檔案有這些</a:t>
            </a:r>
            <a:endParaRPr lang="en-US" altLang="zh-TW" sz="1200" dirty="0">
              <a:solidFill>
                <a:srgbClr val="FF0000"/>
              </a:solidFill>
            </a:endParaRPr>
          </a:p>
          <a:p>
            <a:r>
              <a:rPr lang="zh-TW" altLang="en-US" sz="1200" dirty="0">
                <a:solidFill>
                  <a:srgbClr val="FF0000"/>
                </a:solidFill>
              </a:rPr>
              <a:t>上頁已先將</a:t>
            </a:r>
            <a:r>
              <a:rPr lang="en-US" altLang="zh-TW" sz="1200" dirty="0">
                <a:solidFill>
                  <a:srgbClr val="FF0000"/>
                </a:solidFill>
              </a:rPr>
              <a:t>main.py </a:t>
            </a:r>
            <a:r>
              <a:rPr lang="zh-TW" altLang="en-US" sz="1200" dirty="0">
                <a:solidFill>
                  <a:srgbClr val="FF0000"/>
                </a:solidFill>
              </a:rPr>
              <a:t>建好</a:t>
            </a:r>
            <a:endParaRPr lang="en-US" altLang="zh-TW" sz="1200" dirty="0">
              <a:solidFill>
                <a:srgbClr val="FF0000"/>
              </a:solidFill>
            </a:endParaRPr>
          </a:p>
          <a:p>
            <a:r>
              <a:rPr lang="zh-TW" altLang="en-US" sz="1200" dirty="0">
                <a:solidFill>
                  <a:srgbClr val="FF0000"/>
                </a:solidFill>
              </a:rPr>
              <a:t>接續建  </a:t>
            </a:r>
            <a:r>
              <a:rPr lang="en-US" altLang="zh-TW" sz="1200" dirty="0">
                <a:solidFill>
                  <a:srgbClr val="FF0000"/>
                </a:solidFill>
              </a:rPr>
              <a:t>:</a:t>
            </a:r>
            <a:r>
              <a:rPr lang="zh-TW" altLang="en-US" sz="1200" dirty="0">
                <a:solidFill>
                  <a:srgbClr val="FF0000"/>
                </a:solidFill>
              </a:rPr>
              <a:t> </a:t>
            </a:r>
            <a:endParaRPr lang="en-US" altLang="zh-TW" sz="1200" dirty="0">
              <a:solidFill>
                <a:srgbClr val="FF0000"/>
              </a:solidFill>
            </a:endParaRPr>
          </a:p>
          <a:p>
            <a:r>
              <a:rPr lang="en-US" altLang="zh-TW" sz="1200" dirty="0">
                <a:solidFill>
                  <a:srgbClr val="FF0000"/>
                </a:solidFill>
              </a:rPr>
              <a:t>2. requestments.txt</a:t>
            </a:r>
          </a:p>
          <a:p>
            <a:r>
              <a:rPr lang="en-US" altLang="zh-TW" sz="1200" dirty="0">
                <a:solidFill>
                  <a:srgbClr val="FF0000"/>
                </a:solidFill>
              </a:rPr>
              <a:t>3. </a:t>
            </a:r>
            <a:r>
              <a:rPr lang="en-US" altLang="zh-TW" sz="1200" dirty="0" err="1">
                <a:solidFill>
                  <a:srgbClr val="FF0000"/>
                </a:solidFill>
              </a:rPr>
              <a:t>gitgnore</a:t>
            </a:r>
            <a:r>
              <a:rPr lang="en-US" altLang="zh-TW" sz="1200" dirty="0">
                <a:solidFill>
                  <a:srgbClr val="FF0000"/>
                </a:solidFill>
              </a:rPr>
              <a:t>( </a:t>
            </a:r>
            <a:r>
              <a:rPr lang="zh-TW" altLang="en-US" sz="1200" dirty="0">
                <a:solidFill>
                  <a:srgbClr val="FF0000"/>
                </a:solidFill>
              </a:rPr>
              <a:t>用記事本件檔案，最後</a:t>
            </a:r>
            <a:r>
              <a:rPr lang="en-US" altLang="zh-TW" sz="1200" dirty="0">
                <a:solidFill>
                  <a:srgbClr val="FF0000"/>
                </a:solidFill>
              </a:rPr>
              <a:t>txt</a:t>
            </a:r>
            <a:r>
              <a:rPr lang="zh-TW" altLang="en-US" sz="1200" dirty="0">
                <a:solidFill>
                  <a:srgbClr val="FF0000"/>
                </a:solidFill>
              </a:rPr>
              <a:t>附檔名刪除</a:t>
            </a:r>
            <a:r>
              <a:rPr lang="en-US" altLang="zh-TW" sz="12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zh-TW" sz="1200" dirty="0">
                <a:solidFill>
                  <a:srgbClr val="FF0000"/>
                </a:solidFill>
              </a:rPr>
              <a:t>4.</a:t>
            </a:r>
            <a:r>
              <a:rPr lang="zh-TW" altLang="en-US" sz="1200" dirty="0">
                <a:solidFill>
                  <a:srgbClr val="FF0000"/>
                </a:solidFill>
              </a:rPr>
              <a:t> </a:t>
            </a:r>
            <a:r>
              <a:rPr lang="en-US" altLang="zh-TW" sz="1200" dirty="0" err="1">
                <a:solidFill>
                  <a:srgbClr val="FF0000"/>
                </a:solidFill>
              </a:rPr>
              <a:t>Procfile</a:t>
            </a:r>
            <a:r>
              <a:rPr lang="en-US" altLang="zh-TW" sz="1200" dirty="0">
                <a:solidFill>
                  <a:srgbClr val="FF0000"/>
                </a:solidFill>
              </a:rPr>
              <a:t>( </a:t>
            </a:r>
            <a:r>
              <a:rPr lang="zh-TW" altLang="en-US" sz="1200" dirty="0">
                <a:solidFill>
                  <a:srgbClr val="FF0000"/>
                </a:solidFill>
              </a:rPr>
              <a:t>用記事本件檔案，最後</a:t>
            </a:r>
            <a:r>
              <a:rPr lang="en-US" altLang="zh-TW" sz="1200" dirty="0">
                <a:solidFill>
                  <a:srgbClr val="FF0000"/>
                </a:solidFill>
              </a:rPr>
              <a:t>txt</a:t>
            </a:r>
            <a:r>
              <a:rPr lang="zh-TW" altLang="en-US" sz="1200" dirty="0">
                <a:solidFill>
                  <a:srgbClr val="FF0000"/>
                </a:solidFill>
              </a:rPr>
              <a:t>附檔名刪除</a:t>
            </a:r>
            <a:r>
              <a:rPr lang="en-US" altLang="zh-TW" sz="1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F2112C8-A619-491F-B710-C1D3EC486418}"/>
              </a:ext>
            </a:extLst>
          </p:cNvPr>
          <p:cNvSpPr txBox="1"/>
          <p:nvPr/>
        </p:nvSpPr>
        <p:spPr>
          <a:xfrm>
            <a:off x="179468" y="51377"/>
            <a:ext cx="328647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main.py </a:t>
            </a:r>
            <a:r>
              <a:rPr lang="zh-TW" altLang="en-US" dirty="0">
                <a:solidFill>
                  <a:srgbClr val="FF0000"/>
                </a:solidFill>
              </a:rPr>
              <a:t>程式 ，用</a:t>
            </a:r>
            <a:r>
              <a:rPr lang="en-US" altLang="zh-TW" dirty="0">
                <a:solidFill>
                  <a:srgbClr val="FF0000"/>
                </a:solidFill>
              </a:rPr>
              <a:t>VS code </a:t>
            </a:r>
            <a:r>
              <a:rPr lang="zh-TW" altLang="en-US" dirty="0">
                <a:solidFill>
                  <a:srgbClr val="FF0000"/>
                </a:solidFill>
              </a:rPr>
              <a:t>開啟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688257-833D-4DBE-82B5-4BBE74BAC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92" y="542377"/>
            <a:ext cx="5651349" cy="319443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7308BE1-CC4C-4B7F-BC0E-BE7C4EBDF771}"/>
              </a:ext>
            </a:extLst>
          </p:cNvPr>
          <p:cNvSpPr/>
          <p:nvPr/>
        </p:nvSpPr>
        <p:spPr>
          <a:xfrm>
            <a:off x="5256540" y="781434"/>
            <a:ext cx="3658505" cy="3877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036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6E2FF20-2D5E-4468-8CFD-A7D0C03C1970}"/>
              </a:ext>
            </a:extLst>
          </p:cNvPr>
          <p:cNvSpPr txBox="1"/>
          <p:nvPr/>
        </p:nvSpPr>
        <p:spPr>
          <a:xfrm>
            <a:off x="612347" y="161107"/>
            <a:ext cx="328647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requestments.txt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01D9615-33FA-4873-A85B-A1DEBF3FBA37}"/>
              </a:ext>
            </a:extLst>
          </p:cNvPr>
          <p:cNvSpPr txBox="1"/>
          <p:nvPr/>
        </p:nvSpPr>
        <p:spPr>
          <a:xfrm>
            <a:off x="730469" y="873985"/>
            <a:ext cx="6097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fastapi</a:t>
            </a:r>
            <a:endParaRPr lang="en-US" altLang="zh-TW" dirty="0"/>
          </a:p>
          <a:p>
            <a:r>
              <a:rPr lang="en-US" altLang="zh-TW" dirty="0" err="1"/>
              <a:t>uvicorn</a:t>
            </a:r>
            <a:r>
              <a:rPr lang="en-US" altLang="zh-TW" dirty="0"/>
              <a:t>[standard]</a:t>
            </a:r>
          </a:p>
          <a:p>
            <a:r>
              <a:rPr lang="en-US" altLang="zh-TW" dirty="0" err="1"/>
              <a:t>trafilatura</a:t>
            </a:r>
            <a:endParaRPr lang="en-US" altLang="zh-TW" dirty="0"/>
          </a:p>
          <a:p>
            <a:r>
              <a:rPr lang="en-US" altLang="zh-TW" dirty="0" err="1"/>
              <a:t>pydantic</a:t>
            </a:r>
            <a:endParaRPr lang="en-US" altLang="zh-TW" dirty="0"/>
          </a:p>
          <a:p>
            <a:r>
              <a:rPr lang="en-US" altLang="zh-TW" dirty="0"/>
              <a:t>requests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1244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4E7C5C6-2F95-48A4-AEE4-1274052D8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2" y="65569"/>
            <a:ext cx="3253857" cy="502664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C4F65DA-2DF3-4788-BB70-CD2ED0E969C4}"/>
              </a:ext>
            </a:extLst>
          </p:cNvPr>
          <p:cNvSpPr txBox="1"/>
          <p:nvPr/>
        </p:nvSpPr>
        <p:spPr>
          <a:xfrm>
            <a:off x="6831810" y="65569"/>
            <a:ext cx="60971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.</a:t>
            </a:r>
            <a:r>
              <a:rPr lang="en-US" altLang="zh-TW" dirty="0" err="1">
                <a:solidFill>
                  <a:srgbClr val="0070C0"/>
                </a:solidFill>
              </a:rPr>
              <a:t>gitignore</a:t>
            </a:r>
            <a:r>
              <a:rPr lang="zh-TW" altLang="en-US" dirty="0">
                <a:solidFill>
                  <a:srgbClr val="0070C0"/>
                </a:solidFill>
              </a:rPr>
              <a:t>  </a:t>
            </a:r>
            <a:r>
              <a:rPr lang="zh-TW" altLang="en-US" dirty="0">
                <a:solidFill>
                  <a:srgbClr val="FF0000"/>
                </a:solidFill>
              </a:rPr>
              <a:t>內容貼上如下 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__</a:t>
            </a:r>
            <a:r>
              <a:rPr lang="en-US" altLang="zh-TW" dirty="0" err="1">
                <a:solidFill>
                  <a:srgbClr val="FF0000"/>
                </a:solidFill>
              </a:rPr>
              <a:t>pycache</a:t>
            </a:r>
            <a:r>
              <a:rPr lang="en-US" altLang="zh-TW" dirty="0">
                <a:solidFill>
                  <a:srgbClr val="FF0000"/>
                </a:solidFill>
              </a:rPr>
              <a:t>__/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*.</a:t>
            </a:r>
            <a:r>
              <a:rPr lang="en-US" altLang="zh-TW" dirty="0" err="1">
                <a:solidFill>
                  <a:srgbClr val="FF0000"/>
                </a:solidFill>
              </a:rPr>
              <a:t>pyc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static/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.env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vscode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*.</a:t>
            </a:r>
            <a:r>
              <a:rPr lang="en-US" altLang="zh-TW" dirty="0" err="1">
                <a:solidFill>
                  <a:srgbClr val="FF0000"/>
                </a:solidFill>
              </a:rPr>
              <a:t>png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BB8DFF0-BF4D-481B-81F8-C704020B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728" y="65569"/>
            <a:ext cx="3046283" cy="397194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5F9376E-6D70-48F0-8966-2D24BDAA6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849" y="655091"/>
            <a:ext cx="3208976" cy="309116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080DB1E0-9849-4A32-A2EF-31B80703C5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849" y="3855531"/>
            <a:ext cx="3402317" cy="2502499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C90B3437-5CEC-4F63-94CE-343513A787D7}"/>
              </a:ext>
            </a:extLst>
          </p:cNvPr>
          <p:cNvSpPr txBox="1"/>
          <p:nvPr/>
        </p:nvSpPr>
        <p:spPr>
          <a:xfrm>
            <a:off x="9939337" y="2556982"/>
            <a:ext cx="220283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占記憶體空間且會越跑越慢</a:t>
            </a:r>
            <a:endParaRPr lang="en-US" altLang="zh-TW" sz="1200" dirty="0">
              <a:solidFill>
                <a:srgbClr val="FF0000"/>
              </a:solidFill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19558FB2-D752-4BC7-9FF1-22AF34531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087" y="4435545"/>
            <a:ext cx="2103787" cy="140813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7EF5C8F-992A-4A36-A4F4-E1EBA4233EA5}"/>
              </a:ext>
            </a:extLst>
          </p:cNvPr>
          <p:cNvSpPr/>
          <p:nvPr/>
        </p:nvSpPr>
        <p:spPr>
          <a:xfrm>
            <a:off x="164072" y="1256231"/>
            <a:ext cx="2767135" cy="12135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801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F44F3E0-AE21-4634-B429-E59592148201}"/>
              </a:ext>
            </a:extLst>
          </p:cNvPr>
          <p:cNvSpPr txBox="1"/>
          <p:nvPr/>
        </p:nvSpPr>
        <p:spPr>
          <a:xfrm>
            <a:off x="612347" y="161107"/>
            <a:ext cx="605991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 err="1">
                <a:solidFill>
                  <a:srgbClr val="FF0000"/>
                </a:solidFill>
              </a:rPr>
              <a:t>Procfile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檔案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先用記事本將如下貼上 ，再將</a:t>
            </a:r>
            <a:r>
              <a:rPr lang="en-US" altLang="zh-TW" dirty="0">
                <a:solidFill>
                  <a:srgbClr val="FF0000"/>
                </a:solidFill>
              </a:rPr>
              <a:t>txt</a:t>
            </a:r>
            <a:r>
              <a:rPr lang="zh-TW" altLang="en-US" dirty="0">
                <a:solidFill>
                  <a:srgbClr val="FF0000"/>
                </a:solidFill>
              </a:rPr>
              <a:t>副檔名刪除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fr-FR" altLang="zh-TW" dirty="0">
                <a:solidFill>
                  <a:srgbClr val="FF0000"/>
                </a:solidFill>
              </a:rPr>
              <a:t>web: uvicorn main:app --host 0.0.0.0 --port $PORT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F184CFF-C6B7-441A-8216-CDF0FAFDA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18" y="511749"/>
            <a:ext cx="9133239" cy="583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26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50FCF77-BBD4-4B13-AF29-AE4095C4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8254"/>
            <a:ext cx="12192000" cy="307286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48912C0-BFF7-45E3-AF20-6544CF7E27F3}"/>
              </a:ext>
            </a:extLst>
          </p:cNvPr>
          <p:cNvSpPr/>
          <p:nvPr/>
        </p:nvSpPr>
        <p:spPr>
          <a:xfrm>
            <a:off x="10059636" y="1878806"/>
            <a:ext cx="1741838" cy="44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993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59E45D4-502B-4561-A6B0-130205571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" y="587485"/>
            <a:ext cx="12123422" cy="568302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4BDEBD9-78A8-4C89-807B-36C2FF3BC568}"/>
              </a:ext>
            </a:extLst>
          </p:cNvPr>
          <p:cNvSpPr/>
          <p:nvPr/>
        </p:nvSpPr>
        <p:spPr>
          <a:xfrm>
            <a:off x="4151755" y="3278981"/>
            <a:ext cx="3927826" cy="80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9B5CC1-8953-4664-9D50-92EE4A80CFCA}"/>
              </a:ext>
            </a:extLst>
          </p:cNvPr>
          <p:cNvSpPr/>
          <p:nvPr/>
        </p:nvSpPr>
        <p:spPr>
          <a:xfrm>
            <a:off x="10522744" y="5436393"/>
            <a:ext cx="1307306" cy="5286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5729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995448C-3CA2-426A-914D-AA7CD7A70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16"/>
            <a:ext cx="12192000" cy="559116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9E9D68C-B5B2-4688-B414-842E57920098}"/>
              </a:ext>
            </a:extLst>
          </p:cNvPr>
          <p:cNvSpPr/>
          <p:nvPr/>
        </p:nvSpPr>
        <p:spPr>
          <a:xfrm>
            <a:off x="7029450" y="4922043"/>
            <a:ext cx="1307306" cy="5286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286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FE68157-A62A-4407-8972-A69A9874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15" y="764203"/>
            <a:ext cx="11427770" cy="532959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89045E8-0DF3-42A4-B7DA-31E8575F5615}"/>
              </a:ext>
            </a:extLst>
          </p:cNvPr>
          <p:cNvSpPr txBox="1"/>
          <p:nvPr/>
        </p:nvSpPr>
        <p:spPr>
          <a:xfrm>
            <a:off x="2171700" y="192881"/>
            <a:ext cx="3450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更名為</a:t>
            </a:r>
            <a:r>
              <a:rPr lang="en-US" altLang="zh-TW" dirty="0">
                <a:solidFill>
                  <a:srgbClr val="FF0000"/>
                </a:solidFill>
              </a:rPr>
              <a:t>0050-news-fastapi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32470B-FD0D-4309-A1FE-ABC87F564376}"/>
              </a:ext>
            </a:extLst>
          </p:cNvPr>
          <p:cNvSpPr/>
          <p:nvPr/>
        </p:nvSpPr>
        <p:spPr>
          <a:xfrm>
            <a:off x="4907756" y="2177771"/>
            <a:ext cx="1307306" cy="5286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217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57473E-7667-4F9F-AA3B-9CF86C0A4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50" y="924091"/>
            <a:ext cx="10277699" cy="500981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DBA9C99-3416-4774-B52E-16ACBACB8FD6}"/>
              </a:ext>
            </a:extLst>
          </p:cNvPr>
          <p:cNvSpPr/>
          <p:nvPr/>
        </p:nvSpPr>
        <p:spPr>
          <a:xfrm>
            <a:off x="5442346" y="2284927"/>
            <a:ext cx="3258742" cy="615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6940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AE1B349-ABD8-49B5-B0EF-BAABA8481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5" y="806279"/>
            <a:ext cx="11971949" cy="524544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CD65B8E-1939-4DE0-8F1F-5BFEFD9AB290}"/>
              </a:ext>
            </a:extLst>
          </p:cNvPr>
          <p:cNvSpPr/>
          <p:nvPr/>
        </p:nvSpPr>
        <p:spPr>
          <a:xfrm>
            <a:off x="3942158" y="2184914"/>
            <a:ext cx="3258742" cy="615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8994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2DAED06-9903-4C12-B0C0-25AC6F0C7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42" y="814717"/>
            <a:ext cx="8565257" cy="521098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4DDCF5D-DE54-4743-BBB1-1C4828C6E623}"/>
              </a:ext>
            </a:extLst>
          </p:cNvPr>
          <p:cNvSpPr/>
          <p:nvPr/>
        </p:nvSpPr>
        <p:spPr>
          <a:xfrm>
            <a:off x="7858124" y="4999552"/>
            <a:ext cx="778669" cy="565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3031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C15ABA9-AAD5-4CF7-AC6A-2DF4F2886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381" y="582969"/>
            <a:ext cx="7467457" cy="501366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616F19A-6F14-43F3-91F0-2309590AAA2F}"/>
              </a:ext>
            </a:extLst>
          </p:cNvPr>
          <p:cNvSpPr/>
          <p:nvPr/>
        </p:nvSpPr>
        <p:spPr>
          <a:xfrm>
            <a:off x="7858124" y="4999552"/>
            <a:ext cx="778669" cy="565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162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65622F1-A0DD-495D-B0EF-374D41E12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066" y="1351547"/>
            <a:ext cx="6704067" cy="442636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577C99A-01CB-407A-9A42-7617C6DFF657}"/>
              </a:ext>
            </a:extLst>
          </p:cNvPr>
          <p:cNvSpPr/>
          <p:nvPr/>
        </p:nvSpPr>
        <p:spPr>
          <a:xfrm>
            <a:off x="7858124" y="4999552"/>
            <a:ext cx="778669" cy="565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1654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E6E1CBE-0AAD-4FEC-9353-0340F8B5E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9" y="1016494"/>
            <a:ext cx="12192000" cy="5639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F23023D-8230-40D2-B927-18C7052CFC31}"/>
              </a:ext>
            </a:extLst>
          </p:cNvPr>
          <p:cNvSpPr/>
          <p:nvPr/>
        </p:nvSpPr>
        <p:spPr>
          <a:xfrm>
            <a:off x="3957636" y="2470665"/>
            <a:ext cx="778669" cy="565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2499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952F134-DAED-40C0-8E2F-8053FF08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519308"/>
            <a:ext cx="12192000" cy="581938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16DDE12-1E5B-4591-9EF1-2ECAB475D612}"/>
              </a:ext>
            </a:extLst>
          </p:cNvPr>
          <p:cNvSpPr/>
          <p:nvPr/>
        </p:nvSpPr>
        <p:spPr>
          <a:xfrm>
            <a:off x="3957636" y="2470665"/>
            <a:ext cx="778669" cy="565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0017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FBC525B-F6E1-4976-A238-6566DC3F5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635"/>
            <a:ext cx="12192000" cy="584304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BAE631B-A5A8-44DF-AD63-28F58B9F69DC}"/>
              </a:ext>
            </a:extLst>
          </p:cNvPr>
          <p:cNvSpPr/>
          <p:nvPr/>
        </p:nvSpPr>
        <p:spPr>
          <a:xfrm>
            <a:off x="7758111" y="4535210"/>
            <a:ext cx="1235870" cy="536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8DC8A4D-C736-4C8E-807F-E723534B3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476" y="0"/>
            <a:ext cx="3256293" cy="282502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5CB8C6C3-7DD5-4658-9AC9-D8138A242F5B}"/>
              </a:ext>
            </a:extLst>
          </p:cNvPr>
          <p:cNvSpPr/>
          <p:nvPr/>
        </p:nvSpPr>
        <p:spPr>
          <a:xfrm>
            <a:off x="4129088" y="614635"/>
            <a:ext cx="421481" cy="5283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BA3E592-A664-4BE0-A89C-8C2A44C04223}"/>
              </a:ext>
            </a:extLst>
          </p:cNvPr>
          <p:cNvCxnSpPr/>
          <p:nvPr/>
        </p:nvCxnSpPr>
        <p:spPr>
          <a:xfrm flipH="1">
            <a:off x="4550569" y="321469"/>
            <a:ext cx="2915907" cy="3786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562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57E8244-0087-4F70-A388-2C60E68BB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386"/>
            <a:ext cx="12192000" cy="386522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3DFEEE5-0B64-4D4C-817C-B88CF546DF40}"/>
              </a:ext>
            </a:extLst>
          </p:cNvPr>
          <p:cNvSpPr/>
          <p:nvPr/>
        </p:nvSpPr>
        <p:spPr>
          <a:xfrm>
            <a:off x="7865267" y="4320898"/>
            <a:ext cx="1235870" cy="536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4648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89930B8-273B-44EA-8E02-823EB118F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" y="861540"/>
            <a:ext cx="12192000" cy="513492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BD73B2F-CE03-4B59-AF46-0FE04C172BB2}"/>
              </a:ext>
            </a:extLst>
          </p:cNvPr>
          <p:cNvSpPr txBox="1"/>
          <p:nvPr/>
        </p:nvSpPr>
        <p:spPr>
          <a:xfrm>
            <a:off x="4320182" y="4887397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輸入</a:t>
            </a:r>
            <a:r>
              <a:rPr lang="en-US" altLang="zh-TW" dirty="0">
                <a:solidFill>
                  <a:srgbClr val="FF0000"/>
                </a:solidFill>
              </a:rPr>
              <a:t>20260715-0050-news-fastapi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00899A-A9DA-4D09-A66C-4AC947FAB711}"/>
              </a:ext>
            </a:extLst>
          </p:cNvPr>
          <p:cNvSpPr/>
          <p:nvPr/>
        </p:nvSpPr>
        <p:spPr>
          <a:xfrm>
            <a:off x="5022055" y="4292323"/>
            <a:ext cx="2621758" cy="595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A46764-AF1D-4C87-B795-2C595CCD5D7C}"/>
              </a:ext>
            </a:extLst>
          </p:cNvPr>
          <p:cNvSpPr/>
          <p:nvPr/>
        </p:nvSpPr>
        <p:spPr>
          <a:xfrm>
            <a:off x="8345686" y="4887397"/>
            <a:ext cx="776883" cy="4632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4511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F273048-D245-4E79-B868-58E433E54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80" y="675622"/>
            <a:ext cx="12192000" cy="550675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43A0BDC-B052-4646-B25B-227CE0C9BA53}"/>
              </a:ext>
            </a:extLst>
          </p:cNvPr>
          <p:cNvSpPr/>
          <p:nvPr/>
        </p:nvSpPr>
        <p:spPr>
          <a:xfrm>
            <a:off x="3607591" y="4963836"/>
            <a:ext cx="5857877" cy="915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228646-C4A3-43C5-BF27-D92F1B09B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982" y="3240331"/>
            <a:ext cx="5054698" cy="152033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7A6E4AA-58AD-4CD1-AE61-D24086AE40AF}"/>
              </a:ext>
            </a:extLst>
          </p:cNvPr>
          <p:cNvSpPr txBox="1"/>
          <p:nvPr/>
        </p:nvSpPr>
        <p:spPr>
          <a:xfrm>
            <a:off x="7646195" y="4492920"/>
            <a:ext cx="5133974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https://20260715-0050-news-fastapi.zeabur.app/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BAD694E-FE04-4409-9F4F-D9F1950991ED}"/>
              </a:ext>
            </a:extLst>
          </p:cNvPr>
          <p:cNvSpPr txBox="1"/>
          <p:nvPr/>
        </p:nvSpPr>
        <p:spPr>
          <a:xfrm>
            <a:off x="4918472" y="187884"/>
            <a:ext cx="235505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最後可更名將</a:t>
            </a:r>
            <a:r>
              <a:rPr lang="en-US" altLang="zh-TW" dirty="0" err="1">
                <a:solidFill>
                  <a:srgbClr val="FF0000"/>
                </a:solidFill>
              </a:rPr>
              <a:t>srv</a:t>
            </a:r>
            <a:r>
              <a:rPr lang="zh-TW" altLang="en-US" dirty="0">
                <a:solidFill>
                  <a:srgbClr val="FF0000"/>
                </a:solidFill>
              </a:rPr>
              <a:t>刪除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55EAD8C-BC17-4D44-A14A-C9616B4A9F8B}"/>
              </a:ext>
            </a:extLst>
          </p:cNvPr>
          <p:cNvSpPr/>
          <p:nvPr/>
        </p:nvSpPr>
        <p:spPr>
          <a:xfrm>
            <a:off x="4129088" y="614635"/>
            <a:ext cx="421481" cy="5283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340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F031B8A-0EBA-4AB7-AB0C-BFE7604D2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50" y="458434"/>
            <a:ext cx="11482699" cy="594113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CE8CF3E-E07C-4D00-9117-7BCC35878E48}"/>
              </a:ext>
            </a:extLst>
          </p:cNvPr>
          <p:cNvSpPr txBox="1"/>
          <p:nvPr/>
        </p:nvSpPr>
        <p:spPr>
          <a:xfrm>
            <a:off x="5533770" y="897185"/>
            <a:ext cx="235505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最後可更名將</a:t>
            </a:r>
            <a:r>
              <a:rPr lang="en-US" altLang="zh-TW" dirty="0" err="1">
                <a:solidFill>
                  <a:srgbClr val="FF0000"/>
                </a:solidFill>
              </a:rPr>
              <a:t>srv</a:t>
            </a:r>
            <a:r>
              <a:rPr lang="zh-TW" altLang="en-US" dirty="0">
                <a:solidFill>
                  <a:srgbClr val="FF0000"/>
                </a:solidFill>
              </a:rPr>
              <a:t>刪除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FF73BAC-95D2-4D2B-9FF0-AE291B0B3D1E}"/>
              </a:ext>
            </a:extLst>
          </p:cNvPr>
          <p:cNvSpPr txBox="1"/>
          <p:nvPr/>
        </p:nvSpPr>
        <p:spPr>
          <a:xfrm>
            <a:off x="4014232" y="5099672"/>
            <a:ext cx="5133974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https://20260715-0050-news-fastapi.zeabur.app/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183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847A54-5686-465A-ACE5-DE7153B8E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9" y="3684597"/>
            <a:ext cx="10120312" cy="299920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32AA0D2-F785-42D2-86C8-E7CA9708F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49" y="-43651"/>
            <a:ext cx="4577840" cy="347265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2F6C07B-6488-469A-AB79-FD2416AF0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652" y="174198"/>
            <a:ext cx="3399719" cy="4112202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5148EED-68DB-4AB3-A657-2147BB7A2552}"/>
              </a:ext>
            </a:extLst>
          </p:cNvPr>
          <p:cNvSpPr/>
          <p:nvPr/>
        </p:nvSpPr>
        <p:spPr>
          <a:xfrm>
            <a:off x="6486258" y="256374"/>
            <a:ext cx="2717563" cy="3304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9DF027-F841-455E-BFDD-AF2A6C338397}"/>
              </a:ext>
            </a:extLst>
          </p:cNvPr>
          <p:cNvSpPr/>
          <p:nvPr/>
        </p:nvSpPr>
        <p:spPr>
          <a:xfrm>
            <a:off x="1093862" y="1056581"/>
            <a:ext cx="2717563" cy="3304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00C4C1E-0045-41BD-8699-E65B8FC32798}"/>
              </a:ext>
            </a:extLst>
          </p:cNvPr>
          <p:cNvSpPr txBox="1"/>
          <p:nvPr/>
        </p:nvSpPr>
        <p:spPr>
          <a:xfrm>
            <a:off x="2784811" y="6342071"/>
            <a:ext cx="609742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20260715-0050-news-fastapi.zeabur.app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71FB5D2-6001-43A0-A06F-B0EE0A8B8C56}"/>
              </a:ext>
            </a:extLst>
          </p:cNvPr>
          <p:cNvSpPr txBox="1"/>
          <p:nvPr/>
        </p:nvSpPr>
        <p:spPr>
          <a:xfrm>
            <a:off x="817189" y="1102528"/>
            <a:ext cx="4310288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20260715-0050-news-fastapi.zeabur.app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993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8C7D6FE-7CBC-4B26-ACE6-B73E790C6E96}"/>
              </a:ext>
            </a:extLst>
          </p:cNvPr>
          <p:cNvSpPr txBox="1"/>
          <p:nvPr/>
        </p:nvSpPr>
        <p:spPr>
          <a:xfrm>
            <a:off x="715710" y="175436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輸入 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zh-TW" altLang="en-US" dirty="0">
                <a:solidFill>
                  <a:srgbClr val="FF0000"/>
                </a:solidFill>
              </a:rPr>
              <a:t>  </a:t>
            </a:r>
            <a:r>
              <a:rPr lang="en-US" altLang="zh-TW" dirty="0">
                <a:solidFill>
                  <a:srgbClr val="FF0000"/>
                </a:solidFill>
              </a:rPr>
              <a:t>https://20260715-0050-news-fastapi.zeabur.app/docs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CD77B1-ECC3-48AE-8743-212175E2A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1147"/>
            <a:ext cx="12192000" cy="580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05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244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003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348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845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8872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792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4611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3289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759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9445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625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18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750</Words>
  <Application>Microsoft Office PowerPoint</Application>
  <PresentationFormat>寬螢幕</PresentationFormat>
  <Paragraphs>142</Paragraphs>
  <Slides>38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和 成</dc:creator>
  <cp:lastModifiedBy>和 成</cp:lastModifiedBy>
  <cp:revision>6</cp:revision>
  <dcterms:created xsi:type="dcterms:W3CDTF">2026-07-15T14:30:33Z</dcterms:created>
  <dcterms:modified xsi:type="dcterms:W3CDTF">2026-07-15T15:59:53Z</dcterms:modified>
</cp:coreProperties>
</file>